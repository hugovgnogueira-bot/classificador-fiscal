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o item é o menor bloco de construção do ERP. Tudo o que vem depois herda o que foi decidido no cadastro.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diferença entre cadastro e transação: a transação erra uma vez, o cadastro erra sempre.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Percorrer o caminho completo para quem não conhece a rotina do ERP. O item aparece em todas as etapas.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Exemplo numérico: 5.000 de uma vez contra 1.000 no ano (12 x 83). Diferença de 4.000 no lucro tributável, 34% = 1.360.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9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40" kern="0" dirty="0">
                <a:solidFill>
                  <a:srgbClr val="C26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DE ITENS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212848"/>
            <a:ext cx="9692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cadastro de itens decide o resultado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C7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 classificação correta de cada item é a base de tudo o que o ERP faz depois: comprar, receber, consumir, produzir, faturar e contabilizar.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846320"/>
            <a:ext cx="1005840" cy="27432"/>
          </a:xfrm>
          <a:prstGeom prst="rect">
            <a:avLst/>
          </a:prstGeom>
          <a:solidFill>
            <a:srgbClr val="C2660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5074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Hugo Nogueira  · 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C26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PONTO DE PARTIDA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item é o menor bloco de construção do sistema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2286000"/>
          </a:xfrm>
          <a:prstGeom prst="roundRect">
            <a:avLst>
              <a:gd name="adj" fmla="val 2400"/>
            </a:avLst>
          </a:prstGeom>
          <a:solidFill>
            <a:srgbClr val="F4F6F8"/>
          </a:solidFill>
          <a:ln w="9525">
            <a:solidFill>
              <a:srgbClr val="D9DE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65960"/>
            <a:ext cx="329184" cy="329184"/>
          </a:xfrm>
          <a:prstGeom prst="ellipse">
            <a:avLst/>
          </a:prstGeom>
          <a:solidFill>
            <a:srgbClr val="C2660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00253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45059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Cadastrado uma vez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3464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item nasce em um cadastro só e passa a ser usado por compras, almoxarifado, produção, fiscal e contabilidade.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1691640"/>
            <a:ext cx="3520440" cy="2286000"/>
          </a:xfrm>
          <a:prstGeom prst="roundRect">
            <a:avLst>
              <a:gd name="adj" fmla="val 2400"/>
            </a:avLst>
          </a:prstGeom>
          <a:solidFill>
            <a:srgbClr val="F4F6F8"/>
          </a:solidFill>
          <a:ln w="9525">
            <a:solidFill>
              <a:srgbClr val="D9DE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7720" y="1965960"/>
            <a:ext cx="329184" cy="329184"/>
          </a:xfrm>
          <a:prstGeom prst="ellipse">
            <a:avLst/>
          </a:prstGeom>
          <a:solidFill>
            <a:srgbClr val="C266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17720" y="200253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245059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Usado em todo processo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283464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movimento do sistema carrega um item: requisição, pedido, nota, consumo, ordem de produção, faturamento.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38160" y="1691640"/>
            <a:ext cx="3520440" cy="2286000"/>
          </a:xfrm>
          <a:prstGeom prst="roundRect">
            <a:avLst>
              <a:gd name="adj" fmla="val 2400"/>
            </a:avLst>
          </a:prstGeom>
          <a:solidFill>
            <a:srgbClr val="F4F6F8"/>
          </a:solidFill>
          <a:ln w="9525">
            <a:solidFill>
              <a:srgbClr val="D9D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0" y="1965960"/>
            <a:ext cx="329184" cy="329184"/>
          </a:xfrm>
          <a:prstGeom prst="ellipse">
            <a:avLst/>
          </a:prstGeom>
          <a:solidFill>
            <a:srgbClr val="C2660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12480" y="200253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45059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erro se repete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283464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cadastro errado não erra uma vez. Erra em cada transação que usar aquele item, por anos.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315968"/>
            <a:ext cx="11064240" cy="1463040"/>
          </a:xfrm>
          <a:prstGeom prst="roundRect">
            <a:avLst>
              <a:gd name="adj" fmla="val 3750"/>
            </a:avLst>
          </a:prstGeom>
          <a:solidFill>
            <a:srgbClr val="1F2933"/>
          </a:solidFill>
          <a:ln w="9525">
            <a:solidFill>
              <a:srgbClr val="D9DEE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05840" y="461772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Cadastrar item não é tarefa de digitação. É a definição da regra contábil, fiscal e de custo que o sistema vai aplicar sozinho, milhares de vezes, sem perguntar de novo.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41908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Classificador Fiscal Inteligente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064240" y="6419088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C26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jornada de um item dentro do sistema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606040" cy="1874520"/>
          </a:xfrm>
          <a:prstGeom prst="roundRect">
            <a:avLst>
              <a:gd name="adj" fmla="val 2927"/>
            </a:avLst>
          </a:prstGeom>
          <a:solidFill>
            <a:srgbClr val="F4F6F8"/>
          </a:solidFill>
          <a:ln w="9525">
            <a:solidFill>
              <a:srgbClr val="D9DE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920240"/>
            <a:ext cx="329184" cy="329184"/>
          </a:xfrm>
          <a:prstGeom prst="ellipse">
            <a:avLst/>
          </a:prstGeom>
          <a:solidFill>
            <a:srgbClr val="C2660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195681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35915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Solicitação de compra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816352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requisitante escolhe o item. Se não acha, cria um novo na pressa.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55848" y="1737360"/>
            <a:ext cx="2606040" cy="1874520"/>
          </a:xfrm>
          <a:prstGeom prst="roundRect">
            <a:avLst>
              <a:gd name="adj" fmla="val 2927"/>
            </a:avLst>
          </a:prstGeom>
          <a:solidFill>
            <a:srgbClr val="F4F6F8"/>
          </a:solidFill>
          <a:ln w="9525">
            <a:solidFill>
              <a:srgbClr val="D9DE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57016" y="1920240"/>
            <a:ext cx="329184" cy="329184"/>
          </a:xfrm>
          <a:prstGeom prst="ellipse">
            <a:avLst/>
          </a:prstGeom>
          <a:solidFill>
            <a:srgbClr val="C266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57016" y="195681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557016" y="235915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Ordem de compra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557016" y="2816352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item traz unidade, fornecedor, centro de custo e conta de destino.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63056" y="1737360"/>
            <a:ext cx="2606040" cy="1874520"/>
          </a:xfrm>
          <a:prstGeom prst="roundRect">
            <a:avLst>
              <a:gd name="adj" fmla="val 2927"/>
            </a:avLst>
          </a:prstGeom>
          <a:solidFill>
            <a:srgbClr val="F4F6F8"/>
          </a:solidFill>
          <a:ln w="9525">
            <a:solidFill>
              <a:srgbClr val="D9D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64224" y="1920240"/>
            <a:ext cx="329184" cy="329184"/>
          </a:xfrm>
          <a:prstGeom prst="ellipse">
            <a:avLst/>
          </a:prstGeom>
          <a:solidFill>
            <a:srgbClr val="C2660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64224" y="195681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364224" y="235915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Entrada da nota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364224" y="2816352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NCM, CFOP esperado, tributação e crédito de ICMS, PIS e COFINS.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970264" y="1737360"/>
            <a:ext cx="2606040" cy="1874520"/>
          </a:xfrm>
          <a:prstGeom prst="roundRect">
            <a:avLst>
              <a:gd name="adj" fmla="val 2927"/>
            </a:avLst>
          </a:prstGeom>
          <a:solidFill>
            <a:srgbClr val="F4F6F8"/>
          </a:solidFill>
          <a:ln w="9525">
            <a:solidFill>
              <a:srgbClr val="D9D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71432" y="1920240"/>
            <a:ext cx="329184" cy="329184"/>
          </a:xfrm>
          <a:prstGeom prst="ellipse">
            <a:avLst/>
          </a:prstGeom>
          <a:solidFill>
            <a:srgbClr val="C2660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71432" y="195681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171432" y="235915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Estoque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171432" y="2816352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se movimenta almoxarifado, em qual depósito e com que custo médio.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3822192"/>
            <a:ext cx="2606040" cy="1874520"/>
          </a:xfrm>
          <a:prstGeom prst="roundRect">
            <a:avLst>
              <a:gd name="adj" fmla="val 2927"/>
            </a:avLst>
          </a:prstGeom>
          <a:solidFill>
            <a:srgbClr val="F4F6F8"/>
          </a:solidFill>
          <a:ln w="9525">
            <a:solidFill>
              <a:srgbClr val="D9D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9808" y="4005072"/>
            <a:ext cx="329184" cy="329184"/>
          </a:xfrm>
          <a:prstGeom prst="ellipse">
            <a:avLst/>
          </a:prstGeom>
          <a:solidFill>
            <a:srgbClr val="C2660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49808" y="404164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49808" y="4443984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Requisição e consumo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749808" y="4901184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 conta de resultado e o centro de custo que recebe o gasto.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355848" y="3822192"/>
            <a:ext cx="2606040" cy="1874520"/>
          </a:xfrm>
          <a:prstGeom prst="roundRect">
            <a:avLst>
              <a:gd name="adj" fmla="val 2927"/>
            </a:avLst>
          </a:prstGeom>
          <a:solidFill>
            <a:srgbClr val="F4F6F8"/>
          </a:solidFill>
          <a:ln w="9525">
            <a:solidFill>
              <a:srgbClr val="D9D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557016" y="4005072"/>
            <a:ext cx="329184" cy="329184"/>
          </a:xfrm>
          <a:prstGeom prst="ellipse">
            <a:avLst/>
          </a:prstGeom>
          <a:solidFill>
            <a:srgbClr val="C2660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557016" y="404164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3557016" y="4443984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Ordem de produção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3557016" y="4901184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no custo do produto como matéria-prima, insumo ou gasto geral.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163056" y="3822192"/>
            <a:ext cx="2606040" cy="1874520"/>
          </a:xfrm>
          <a:prstGeom prst="roundRect">
            <a:avLst>
              <a:gd name="adj" fmla="val 2927"/>
            </a:avLst>
          </a:prstGeom>
          <a:solidFill>
            <a:srgbClr val="F4F6F8"/>
          </a:solidFill>
          <a:ln w="9525">
            <a:solidFill>
              <a:srgbClr val="D9D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364224" y="4005072"/>
            <a:ext cx="329184" cy="329184"/>
          </a:xfrm>
          <a:prstGeom prst="ellipse">
            <a:avLst/>
          </a:prstGeom>
          <a:solidFill>
            <a:srgbClr val="C2660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364224" y="404164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364224" y="4443984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Faturamento</a:t>
            </a:r>
            <a:endParaRPr lang="en-US" sz="1350" dirty="0"/>
          </a:p>
        </p:txBody>
      </p:sp>
      <p:sp>
        <p:nvSpPr>
          <p:cNvPr id="38" name="Text 36"/>
          <p:cNvSpPr txBox="1"/>
          <p:nvPr/>
        </p:nvSpPr>
        <p:spPr>
          <a:xfrm>
            <a:off x="6364224" y="4901184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NCM, CFOP de saída, tributos sobre a venda e a conta de receita.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8970264" y="3822192"/>
            <a:ext cx="2606040" cy="1874520"/>
          </a:xfrm>
          <a:prstGeom prst="roundRect">
            <a:avLst>
              <a:gd name="adj" fmla="val 2927"/>
            </a:avLst>
          </a:prstGeom>
          <a:solidFill>
            <a:srgbClr val="F4F6F8"/>
          </a:solidFill>
          <a:ln w="9525">
            <a:solidFill>
              <a:srgbClr val="D9D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171432" y="4005072"/>
            <a:ext cx="329184" cy="329184"/>
          </a:xfrm>
          <a:prstGeom prst="ellipse">
            <a:avLst/>
          </a:prstGeom>
          <a:solidFill>
            <a:srgbClr val="C2660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171432" y="404164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9171432" y="4443984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Contabilização</a:t>
            </a:r>
            <a:endParaRPr lang="en-US" sz="1350" dirty="0"/>
          </a:p>
        </p:txBody>
      </p:sp>
      <p:sp>
        <p:nvSpPr>
          <p:cNvPr id="43" name="Text 41"/>
          <p:cNvSpPr txBox="1"/>
          <p:nvPr/>
        </p:nvSpPr>
        <p:spPr>
          <a:xfrm>
            <a:off x="9171432" y="4901184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lançamento herda a conta que foi definida lá no cadastro.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5897880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Oito processos, um único cadastro. Tudo o que vem depois herda a decisão tomada no começo.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641908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Classificador Fiscal Inteligente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11064240" y="6419088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C26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notebook de R$ 5.000, dois cadastros possíveis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item, mesma nota, mesma data. A única diferença é a classificação escolhida no cadastro.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532120" cy="3931920"/>
          </a:xfrm>
          <a:prstGeom prst="roundRect">
            <a:avLst>
              <a:gd name="adj" fmla="val 1395"/>
            </a:avLst>
          </a:prstGeom>
          <a:solidFill>
            <a:srgbClr val="F4F6F8"/>
          </a:solidFill>
          <a:ln w="9525">
            <a:solidFill>
              <a:srgbClr val="D9DE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029968"/>
            <a:ext cx="1691640" cy="310896"/>
          </a:xfrm>
          <a:prstGeom prst="roundRect">
            <a:avLst>
              <a:gd name="adj" fmla="val 14706"/>
            </a:avLst>
          </a:prstGeom>
          <a:solidFill>
            <a:srgbClr val="B4231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093976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ERRADO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8716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Despesa administrativa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99923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29992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R$ 5.000 no mês, de uma vez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602736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Patrimônio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3602736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não existe no balanço nem no inventário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206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Fiscal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743200" y="42062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Dedução vedada acima de R$ 1.200 (art. 15, DL 1.598/77)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809744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Exposição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2743200" y="4809744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R$ 1.360 de IRPJ e CSLL sujeitos a glosa no ano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46520" y="1783080"/>
            <a:ext cx="5532120" cy="3931920"/>
          </a:xfrm>
          <a:prstGeom prst="roundRect">
            <a:avLst>
              <a:gd name="adj" fmla="val 1395"/>
            </a:avLst>
          </a:prstGeom>
          <a:solidFill>
            <a:srgbClr val="F4F6F8"/>
          </a:solidFill>
          <a:ln w="9525">
            <a:solidFill>
              <a:srgbClr val="D9D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720840" y="2029968"/>
            <a:ext cx="1691640" cy="310896"/>
          </a:xfrm>
          <a:prstGeom prst="roundRect">
            <a:avLst>
              <a:gd name="adj" fmla="val 14706"/>
            </a:avLst>
          </a:prstGeom>
          <a:solidFill>
            <a:srgbClr val="1B7A5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720840" y="2093976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CERTO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720840" y="248716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Ativo imobilizado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720840" y="299923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641080" y="29992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R$ 83 por mês, ao longo de 60 meses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6720840" y="3602736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Patrimônio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641080" y="3602736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controlado, depreciado e inventariado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720840" y="4206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Fiscal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641080" y="42062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Créditos sobre imobilizado e CIAP preservados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720840" y="4809744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Exposição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641080" y="4809744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Nenhuma. A regra está na taxonomia, não na memória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diferença não aparece em nenhum relatório de cadastro. Aparece no EBITDA, no balanço e na malha fina.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641908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Classificador Fiscal Inteligente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064240" y="6419088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C26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erro de classificação não fica no cadastro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11064240" cy="804672"/>
          </a:xfrm>
          <a:prstGeom prst="roundRect">
            <a:avLst>
              <a:gd name="adj" fmla="val 6818"/>
            </a:avLst>
          </a:prstGeom>
          <a:solidFill>
            <a:srgbClr val="F4F6F8"/>
          </a:solidFill>
          <a:ln w="9525">
            <a:solidFill>
              <a:srgbClr val="D9DE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65376"/>
            <a:ext cx="329184" cy="329184"/>
          </a:xfrm>
          <a:prstGeom prst="ellipse">
            <a:avLst/>
          </a:prstGeom>
          <a:solidFill>
            <a:srgbClr val="C2660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90195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86537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611880" y="1865376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 reconhecido no período errado. Margem de contribuição e EBITDA saem distorcidos.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560320"/>
            <a:ext cx="11064240" cy="804672"/>
          </a:xfrm>
          <a:prstGeom prst="roundRect">
            <a:avLst>
              <a:gd name="adj" fmla="val 6818"/>
            </a:avLst>
          </a:prstGeom>
          <a:solidFill>
            <a:srgbClr val="F4F6F8"/>
          </a:solidFill>
          <a:ln w="9525">
            <a:solidFill>
              <a:srgbClr val="D9DE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798064"/>
            <a:ext cx="329184" cy="329184"/>
          </a:xfrm>
          <a:prstGeom prst="ellipse">
            <a:avLst/>
          </a:prstGeom>
          <a:solidFill>
            <a:srgbClr val="C266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2834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79806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Patrimônio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611880" y="2798064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que existe no chão de fábrica e não existe no balanço, ou o contrário.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493008"/>
            <a:ext cx="11064240" cy="804672"/>
          </a:xfrm>
          <a:prstGeom prst="roundRect">
            <a:avLst>
              <a:gd name="adj" fmla="val 6818"/>
            </a:avLst>
          </a:prstGeom>
          <a:solidFill>
            <a:srgbClr val="F4F6F8"/>
          </a:solidFill>
          <a:ln w="9525">
            <a:solidFill>
              <a:srgbClr val="D9D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730752"/>
            <a:ext cx="329184" cy="329184"/>
          </a:xfrm>
          <a:prstGeom prst="ellipse">
            <a:avLst/>
          </a:prstGeom>
          <a:solidFill>
            <a:srgbClr val="C2660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376732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73075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Fiscal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611880" y="3730752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 tomado a mais ou a menos, divergência no SPED e retrabalho de apuração.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425696"/>
            <a:ext cx="11064240" cy="804672"/>
          </a:xfrm>
          <a:prstGeom prst="roundRect">
            <a:avLst>
              <a:gd name="adj" fmla="val 6818"/>
            </a:avLst>
          </a:prstGeom>
          <a:solidFill>
            <a:srgbClr val="F4F6F8"/>
          </a:solidFill>
          <a:ln w="9525">
            <a:solidFill>
              <a:srgbClr val="D9D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4663440"/>
            <a:ext cx="329184" cy="329184"/>
          </a:xfrm>
          <a:prstGeom prst="ellipse">
            <a:avLst/>
          </a:prstGeom>
          <a:solidFill>
            <a:srgbClr val="C2660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2960" y="470001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466344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 do produto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3611880" y="4663440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produtivo na conta errada muda o custo, o preço de venda e a decisão de fazer ou comprar.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5358384"/>
            <a:ext cx="11064240" cy="804672"/>
          </a:xfrm>
          <a:prstGeom prst="roundRect">
            <a:avLst>
              <a:gd name="adj" fmla="val 6818"/>
            </a:avLst>
          </a:prstGeom>
          <a:solidFill>
            <a:srgbClr val="F4F6F8"/>
          </a:solidFill>
          <a:ln w="9525">
            <a:solidFill>
              <a:srgbClr val="D9D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" y="5596128"/>
            <a:ext cx="329184" cy="329184"/>
          </a:xfrm>
          <a:prstGeom prst="ellipse">
            <a:avLst/>
          </a:prstGeom>
          <a:solidFill>
            <a:srgbClr val="C2660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5632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325880" y="559612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Decisão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3611880" y="5596128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 ABC, orçamento e indicadores construídos sobre uma base que não se sustenta.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641908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Classificador Fiscal Inteligente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64240" y="6419088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C26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ACUMULADO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mesmo parafuso, cadastrado cinco vezes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754880" cy="3931920"/>
          </a:xfrm>
          <a:prstGeom prst="roundRect">
            <a:avLst>
              <a:gd name="adj" fmla="val 1395"/>
            </a:avLst>
          </a:prstGeom>
          <a:solidFill>
            <a:srgbClr val="F4F6F8"/>
          </a:solidFill>
          <a:ln w="9525">
            <a:solidFill>
              <a:srgbClr val="D9DEE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93852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6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aparece no sistema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3774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PARAFUSO M8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9260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PARAF. M8 X 30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4747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PF M8X30 ZINC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40233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PARAFUSO SEXTAVADO M8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45720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M8 30MM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51663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cadastros, cinco históricos, cinco contas possíveis.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577840" y="1691640"/>
            <a:ext cx="6035040" cy="868680"/>
          </a:xfrm>
          <a:prstGeom prst="roundRect">
            <a:avLst>
              <a:gd name="adj" fmla="val 6316"/>
            </a:avLst>
          </a:prstGeom>
          <a:solidFill>
            <a:srgbClr val="F4F6F8"/>
          </a:solidFill>
          <a:ln w="9525">
            <a:solidFill>
              <a:srgbClr val="D9D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852160" y="18379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Histórico fragmentado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852160" y="214884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consumo real fica dividido em cinco linhas e nenhuma mostra o total.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577840" y="2697480"/>
            <a:ext cx="6035040" cy="868680"/>
          </a:xfrm>
          <a:prstGeom prst="roundRect">
            <a:avLst>
              <a:gd name="adj" fmla="val 6316"/>
            </a:avLst>
          </a:prstGeom>
          <a:solidFill>
            <a:srgbClr val="F4F6F8"/>
          </a:solidFill>
          <a:ln w="9525">
            <a:solidFill>
              <a:srgbClr val="D9DE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852160" y="28437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Compras sem escala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852160" y="315468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empresa negocia cinco vezes um volume pequeno, em vez de um volume grande.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577840" y="3703320"/>
            <a:ext cx="6035040" cy="868680"/>
          </a:xfrm>
          <a:prstGeom prst="roundRect">
            <a:avLst>
              <a:gd name="adj" fmla="val 6316"/>
            </a:avLst>
          </a:prstGeom>
          <a:solidFill>
            <a:srgbClr val="F4F6F8"/>
          </a:solidFill>
          <a:ln w="9525">
            <a:solidFill>
              <a:srgbClr val="D9DEE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852160" y="38496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Estoque e MRP divergentes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852160" y="416052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material com saldo em outro código. O inventário nunca fecha.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577840" y="4709160"/>
            <a:ext cx="6035040" cy="868680"/>
          </a:xfrm>
          <a:prstGeom prst="roundRect">
            <a:avLst>
              <a:gd name="adj" fmla="val 6316"/>
            </a:avLst>
          </a:prstGeom>
          <a:solidFill>
            <a:srgbClr val="F4F6F8"/>
          </a:solidFill>
          <a:ln w="9525">
            <a:solidFill>
              <a:srgbClr val="D9DEE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852160" y="48554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Relatório e IA sem base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852160" y="516636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 projeto de dados herda o problema. Dado ruim não vira informação.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41908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Classificador Fiscal Inteligente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64240" y="6419088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C26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diferença que uma taxonomia definida faz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532120" cy="4069080"/>
          </a:xfrm>
          <a:prstGeom prst="roundRect">
            <a:avLst>
              <a:gd name="adj" fmla="val 1348"/>
            </a:avLst>
          </a:prstGeom>
          <a:solidFill>
            <a:srgbClr val="F4F6F8"/>
          </a:solidFill>
          <a:ln w="9525">
            <a:solidFill>
              <a:srgbClr val="D9DE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993392"/>
            <a:ext cx="2377440" cy="347472"/>
          </a:xfrm>
          <a:prstGeom prst="roundRect">
            <a:avLst>
              <a:gd name="adj" fmla="val 13158"/>
            </a:avLst>
          </a:prstGeom>
          <a:solidFill>
            <a:srgbClr val="B4231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206654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TAXONOMIA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77824" y="2619756"/>
            <a:ext cx="109728" cy="109728"/>
          </a:xfrm>
          <a:prstGeom prst="ellipse">
            <a:avLst/>
          </a:prstGeom>
          <a:solidFill>
            <a:srgbClr val="B4231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52144" y="257860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pessoa cadastra do seu jeito, no seu entendimento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77824" y="3241548"/>
            <a:ext cx="109728" cy="109728"/>
          </a:xfrm>
          <a:prstGeom prst="ellipse">
            <a:avLst/>
          </a:prstGeom>
          <a:solidFill>
            <a:srgbClr val="B4231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52144" y="320040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regra vive na cabeça de quem está há mais tempo na casa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77824" y="3863340"/>
            <a:ext cx="109728" cy="109728"/>
          </a:xfrm>
          <a:prstGeom prst="ellipse">
            <a:avLst/>
          </a:prstGeom>
          <a:solidFill>
            <a:srgbClr val="B4231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52144" y="382219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conta contábil é escolhida por hábito ou por cópia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77824" y="4485132"/>
            <a:ext cx="109728" cy="109728"/>
          </a:xfrm>
          <a:prstGeom prst="ellipse">
            <a:avLst/>
          </a:prstGeom>
          <a:solidFill>
            <a:srgbClr val="B4231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52144" y="4443984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diferentes classificam o mesmo item de formas diferentes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77824" y="5106924"/>
            <a:ext cx="109728" cy="109728"/>
          </a:xfrm>
          <a:prstGeom prst="ellipse">
            <a:avLst/>
          </a:prstGeom>
          <a:solidFill>
            <a:srgbClr val="B4231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152144" y="506577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erro aparece quando a auditoria ou o fisco encontra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46520" y="1737360"/>
            <a:ext cx="5532120" cy="4069080"/>
          </a:xfrm>
          <a:prstGeom prst="roundRect">
            <a:avLst>
              <a:gd name="adj" fmla="val 1348"/>
            </a:avLst>
          </a:prstGeom>
          <a:solidFill>
            <a:srgbClr val="F4F6F8"/>
          </a:solidFill>
          <a:ln w="9525">
            <a:solidFill>
              <a:srgbClr val="D9D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739128" y="1993392"/>
            <a:ext cx="2377440" cy="347472"/>
          </a:xfrm>
          <a:prstGeom prst="roundRect">
            <a:avLst>
              <a:gd name="adj" fmla="val 13158"/>
            </a:avLst>
          </a:prstGeom>
          <a:solidFill>
            <a:srgbClr val="1B7A5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739128" y="206654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TAXONOMIA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775704" y="2619756"/>
            <a:ext cx="109728" cy="109728"/>
          </a:xfrm>
          <a:prstGeom prst="ellipse">
            <a:avLst/>
          </a:prstGeom>
          <a:solidFill>
            <a:srgbClr val="1B7A5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050024" y="257860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estrutura define o caminho e todos seguem o mesmo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775704" y="3241548"/>
            <a:ext cx="109728" cy="109728"/>
          </a:xfrm>
          <a:prstGeom prst="ellipse">
            <a:avLst/>
          </a:prstGeom>
          <a:solidFill>
            <a:srgbClr val="1B7A5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050024" y="320040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regra está escrita no arquivo, não na memória de alguém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775704" y="3863340"/>
            <a:ext cx="109728" cy="109728"/>
          </a:xfrm>
          <a:prstGeom prst="ellipse">
            <a:avLst/>
          </a:prstGeom>
          <a:solidFill>
            <a:srgbClr val="1B7A5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050024" y="382219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conta vem da combinação tipo, grupo, subgrupo e classe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775704" y="4485132"/>
            <a:ext cx="109728" cy="109728"/>
          </a:xfrm>
          <a:prstGeom prst="ellipse">
            <a:avLst/>
          </a:prstGeom>
          <a:solidFill>
            <a:srgbClr val="1B7A5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050024" y="4443984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Mesma classificação em todas as unidades, sem negociação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775704" y="5106924"/>
            <a:ext cx="109728" cy="109728"/>
          </a:xfrm>
          <a:prstGeom prst="ellipse">
            <a:avLst/>
          </a:prstGeom>
          <a:solidFill>
            <a:srgbClr val="1B7A55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050024" y="506577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conferência vira consulta, e roda antes do erro acontecer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641908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Classificador Fiscal Inteligente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064240" y="6419088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C26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ESTRUTURA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níveis que terminam em uma conta contábil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011680" cy="566928"/>
          </a:xfrm>
          <a:prstGeom prst="roundRect">
            <a:avLst>
              <a:gd name="adj" fmla="val 9677"/>
            </a:avLst>
          </a:prstGeom>
          <a:solidFill>
            <a:srgbClr val="1F293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8562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3736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852928" y="1691640"/>
            <a:ext cx="2011680" cy="566928"/>
          </a:xfrm>
          <a:prstGeom prst="roundRect">
            <a:avLst>
              <a:gd name="adj" fmla="val 9677"/>
            </a:avLst>
          </a:prstGeom>
          <a:solidFill>
            <a:srgbClr val="1F293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852928" y="18562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4864608" y="173736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157216" y="1691640"/>
            <a:ext cx="2011680" cy="566928"/>
          </a:xfrm>
          <a:prstGeom prst="roundRect">
            <a:avLst>
              <a:gd name="adj" fmla="val 9677"/>
            </a:avLst>
          </a:prstGeom>
          <a:solidFill>
            <a:srgbClr val="1F293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157216" y="18562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SUBGRUPO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7168896" y="173736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461504" y="1691640"/>
            <a:ext cx="2011680" cy="566928"/>
          </a:xfrm>
          <a:prstGeom prst="roundRect">
            <a:avLst>
              <a:gd name="adj" fmla="val 9677"/>
            </a:avLst>
          </a:prstGeom>
          <a:solidFill>
            <a:srgbClr val="1F293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61504" y="18562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9473184" y="173736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765792" y="1691640"/>
            <a:ext cx="2011680" cy="566928"/>
          </a:xfrm>
          <a:prstGeom prst="roundRect">
            <a:avLst>
              <a:gd name="adj" fmla="val 9677"/>
            </a:avLst>
          </a:prstGeom>
          <a:solidFill>
            <a:srgbClr val="C266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765792" y="18562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245059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do primeiro nível, uma pergunta: é produto ou serviço? A natureza limita os tipos possíveis e evita que a máquina seja confundida com a manutenção da máquina.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3063240"/>
            <a:ext cx="11064240" cy="2697480"/>
          </a:xfrm>
          <a:prstGeom prst="roundRect">
            <a:avLst>
              <a:gd name="adj" fmla="val 2034"/>
            </a:avLst>
          </a:prstGeom>
          <a:solidFill>
            <a:srgbClr val="F4F6F8"/>
          </a:solidFill>
          <a:ln w="9525">
            <a:solidFill>
              <a:srgbClr val="D9DEE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32918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6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Exemplo: compra de EPI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3703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2286000" y="3703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Uso e Consumo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955280" y="37033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natureza: Produto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4160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2286000" y="4160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Limpeza, Higiene e Segurança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14400" y="46177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Subgrupo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4617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EPI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955280" y="46177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regra: itens com CA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914400" y="5074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2286000" y="5074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· Administrativo · Vendas · Estoque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7955280" y="5074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 conta final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914400" y="544068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classe, uma conta. A mesma estrutura serve para imobilizado, uso e consumo e serviços.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641908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Classificador Fiscal Inteligente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064240" y="6419088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C26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a classificação termina e o ERP assume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532120" cy="3108960"/>
          </a:xfrm>
          <a:prstGeom prst="roundRect">
            <a:avLst>
              <a:gd name="adj" fmla="val 1765"/>
            </a:avLst>
          </a:prstGeom>
          <a:solidFill>
            <a:srgbClr val="F4F6F8"/>
          </a:solidFill>
          <a:ln w="9525">
            <a:solidFill>
              <a:srgbClr val="D9DEE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975104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7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classificação resolve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5059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Tipo, grupo, subgrupo e classe do item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88950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 contábil de destino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32841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NCM ou código de serviço da LC 116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7673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entre imobilizar e lançar no resultado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4206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 de estoque, quando a compra vai ao almoxarifado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46520" y="1737360"/>
            <a:ext cx="5532120" cy="3108960"/>
          </a:xfrm>
          <a:prstGeom prst="roundRect">
            <a:avLst>
              <a:gd name="adj" fmla="val 1765"/>
            </a:avLst>
          </a:prstGeom>
          <a:solidFill>
            <a:srgbClr val="F4F6F8"/>
          </a:solidFill>
          <a:ln w="9525">
            <a:solidFill>
              <a:srgbClr val="D9DE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766560" y="1975104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66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continua sendo do ERP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245059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 de resultado na baixa da requisição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288950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 de custo e natureza de movimento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332841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Rateio entre ordens de produção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766560" y="37673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CFOP por tipo de operação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4206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Parametrização contábil de cada documento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5029200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1F2933"/>
          </a:solidFill>
          <a:ln w="9525">
            <a:solidFill>
              <a:srgbClr val="D9DEE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05840" y="5285232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Duplicar no cadastro uma regra que já existe no ERP cria duas verdades. Mais cedo ou mais tarde, elas divergem.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1908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Classificador Fiscal Inteligente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064240" y="6419088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C26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DESTINO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Cadastro consistente é o primeiro degrau da automação fiscal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3904488"/>
            <a:ext cx="1965960" cy="1325880"/>
          </a:xfrm>
          <a:prstGeom prst="roundRect">
            <a:avLst>
              <a:gd name="adj" fmla="val 4138"/>
            </a:avLst>
          </a:prstGeom>
          <a:solidFill>
            <a:srgbClr val="1F293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40507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6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480560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consistente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413248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com tipo, classe, conta e NCM corretos desde o nascimento.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788920" y="3502152"/>
            <a:ext cx="1965960" cy="1728216"/>
          </a:xfrm>
          <a:prstGeom prst="roundRect">
            <a:avLst>
              <a:gd name="adj" fmla="val 3175"/>
            </a:avLst>
          </a:prstGeom>
          <a:solidFill>
            <a:srgbClr val="1F293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971800" y="36484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6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971800" y="4480560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de operação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2788920" y="5413248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documento, CFOP, natureza de operação e CST parametrizados.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0" y="3099816"/>
            <a:ext cx="1965960" cy="2130552"/>
          </a:xfrm>
          <a:prstGeom prst="roundRect">
            <a:avLst>
              <a:gd name="adj" fmla="val 2791"/>
            </a:avLst>
          </a:prstGeom>
          <a:solidFill>
            <a:srgbClr val="1F293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212080" y="32461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6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212080" y="4480560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 automática da nota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0" y="5413248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escrita fiscal lança sozinha o que chega, e a exceção vira exceção de verdade.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269480" y="2697480"/>
            <a:ext cx="1965960" cy="2532888"/>
          </a:xfrm>
          <a:prstGeom prst="roundRect">
            <a:avLst>
              <a:gd name="adj" fmla="val 2791"/>
            </a:avLst>
          </a:prstGeom>
          <a:solidFill>
            <a:srgbClr val="1F293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28437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6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4480560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Faturamento na régua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269480" y="5413248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saída sai com a tributação certa na origem, sem correção depois.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509760" y="2295144"/>
            <a:ext cx="1965960" cy="2935224"/>
          </a:xfrm>
          <a:prstGeom prst="roundRect">
            <a:avLst>
              <a:gd name="adj" fmla="val 2791"/>
            </a:avLst>
          </a:prstGeom>
          <a:solidFill>
            <a:srgbClr val="1B7A5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692640" y="24414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6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692640" y="4480560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Contabilização automática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9509760" y="5413248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documento já sabe em qual conta cai, porque o item sabe.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14813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degrau só se sustenta se o anterior estiver firme. Automatizar a escrita fiscal sobre um cadastro sujo apenas acelera o erro.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41908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Classificador Fiscal Inteligente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064240" y="6419088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C26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 classificador faz em cada cadastro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3749040"/>
          </a:xfrm>
          <a:prstGeom prst="roundRect">
            <a:avLst>
              <a:gd name="adj" fmla="val 1558"/>
            </a:avLst>
          </a:prstGeom>
          <a:solidFill>
            <a:srgbClr val="F4F6F8"/>
          </a:solidFill>
          <a:ln w="9525">
            <a:solidFill>
              <a:srgbClr val="D9DE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938528"/>
            <a:ext cx="2651760" cy="347472"/>
          </a:xfrm>
          <a:prstGeom prst="roundRect">
            <a:avLst>
              <a:gd name="adj" fmla="val 13158"/>
            </a:avLst>
          </a:prstGeom>
          <a:solidFill>
            <a:srgbClr val="1B7A5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201168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INFORMA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48716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 ou serviço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9718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Descrição do item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345643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 e setor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04672" y="3941064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em estoque?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04672" y="4425696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unitário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04672" y="491032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Orçamento em PDF (opcional)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43400" y="1691640"/>
            <a:ext cx="3520440" cy="3749040"/>
          </a:xfrm>
          <a:prstGeom prst="roundRect">
            <a:avLst>
              <a:gd name="adj" fmla="val 1558"/>
            </a:avLst>
          </a:prstGeom>
          <a:solidFill>
            <a:srgbClr val="F4F6F8"/>
          </a:solidFill>
          <a:ln w="9525">
            <a:solidFill>
              <a:srgbClr val="D9D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99432" y="1938528"/>
            <a:ext cx="2651760" cy="347472"/>
          </a:xfrm>
          <a:prstGeom prst="roundRect">
            <a:avLst>
              <a:gd name="adj" fmla="val 13158"/>
            </a:avLst>
          </a:prstGeom>
          <a:solidFill>
            <a:srgbClr val="1F293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99432" y="201168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PROCESSA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599432" y="248716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 os tipos pela natureza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99432" y="29718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itens semelhantes já validados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345643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 a taxonomia e as regras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99432" y="3941064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 os critérios de imobilização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99432" y="4425696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Procura o NCM ou o código de serviço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38160" y="1691640"/>
            <a:ext cx="3520440" cy="3749040"/>
          </a:xfrm>
          <a:prstGeom prst="roundRect">
            <a:avLst>
              <a:gd name="adj" fmla="val 1558"/>
            </a:avLst>
          </a:prstGeom>
          <a:solidFill>
            <a:srgbClr val="F4F6F8"/>
          </a:solidFill>
          <a:ln w="9525">
            <a:solidFill>
              <a:srgbClr val="D9D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394192" y="1938528"/>
            <a:ext cx="2651760" cy="347472"/>
          </a:xfrm>
          <a:prstGeom prst="roundRect">
            <a:avLst>
              <a:gd name="adj" fmla="val 13158"/>
            </a:avLst>
          </a:prstGeom>
          <a:solidFill>
            <a:srgbClr val="C2660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394192" y="201168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RECEBE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394192" y="248716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Tipo, grupo, subgrupo e classe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394192" y="29718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 contábil com descrição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394192" y="345643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NCM ou código de serviço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394192" y="3941064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de imobilização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394192" y="4425696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Justificativa e grau de confiança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5596128"/>
            <a:ext cx="11064240" cy="685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D9DEE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4400" y="577900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entra na base de conhecimento sem aprovação humana. O sistema sugere, você decide, e a base só guarda o que foi validado.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641908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Classificador Fiscal Inteligente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064240" y="6419088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C26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DE EXEMPLO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estrutura que acompanha o projeto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1600200"/>
          </a:xfrm>
          <a:prstGeom prst="roundRect">
            <a:avLst>
              <a:gd name="adj" fmla="val 3429"/>
            </a:avLst>
          </a:prstGeom>
          <a:solidFill>
            <a:srgbClr val="F4F6F8"/>
          </a:solidFill>
          <a:ln w="9525">
            <a:solidFill>
              <a:srgbClr val="D9DEE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020824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82549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item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1783080"/>
            <a:ext cx="3520440" cy="1600200"/>
          </a:xfrm>
          <a:prstGeom prst="roundRect">
            <a:avLst>
              <a:gd name="adj" fmla="val 3429"/>
            </a:avLst>
          </a:prstGeom>
          <a:solidFill>
            <a:srgbClr val="F4F6F8"/>
          </a:solidFill>
          <a:ln w="9525">
            <a:solidFill>
              <a:srgbClr val="D9DE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2020824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282549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38160" y="1783080"/>
            <a:ext cx="3520440" cy="1600200"/>
          </a:xfrm>
          <a:prstGeom prst="roundRect">
            <a:avLst>
              <a:gd name="adj" fmla="val 3429"/>
            </a:avLst>
          </a:prstGeom>
          <a:solidFill>
            <a:srgbClr val="F4F6F8"/>
          </a:solidFill>
          <a:ln w="9525">
            <a:solidFill>
              <a:srgbClr val="D9DE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58200" y="2020824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</a:t>
            </a:r>
            <a:endParaRPr lang="en-US" sz="4800" dirty="0"/>
          </a:p>
        </p:txBody>
      </p:sp>
      <p:sp>
        <p:nvSpPr>
          <p:cNvPr id="12" name="Text 10"/>
          <p:cNvSpPr txBox="1"/>
          <p:nvPr/>
        </p:nvSpPr>
        <p:spPr>
          <a:xfrm>
            <a:off x="8458200" y="282549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subgrupos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657600"/>
            <a:ext cx="3520440" cy="1600200"/>
          </a:xfrm>
          <a:prstGeom prst="roundRect">
            <a:avLst>
              <a:gd name="adj" fmla="val 3429"/>
            </a:avLst>
          </a:prstGeom>
          <a:solidFill>
            <a:srgbClr val="F4F6F8"/>
          </a:solidFill>
          <a:ln w="9525">
            <a:solidFill>
              <a:srgbClr val="D9DEE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3895344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162</a:t>
            </a:r>
            <a:endParaRPr lang="en-US" sz="48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470001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combinações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43400" y="3657600"/>
            <a:ext cx="3520440" cy="1600200"/>
          </a:xfrm>
          <a:prstGeom prst="roundRect">
            <a:avLst>
              <a:gd name="adj" fmla="val 3429"/>
            </a:avLst>
          </a:prstGeom>
          <a:solidFill>
            <a:srgbClr val="F4F6F8"/>
          </a:solidFill>
          <a:ln w="9525">
            <a:solidFill>
              <a:srgbClr val="D9DE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63440" y="3895344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446</a:t>
            </a:r>
            <a:endParaRPr lang="en-US" sz="480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470001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contas no plano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138160" y="3657600"/>
            <a:ext cx="3520440" cy="1600200"/>
          </a:xfrm>
          <a:prstGeom prst="roundRect">
            <a:avLst>
              <a:gd name="adj" fmla="val 3429"/>
            </a:avLst>
          </a:prstGeom>
          <a:solidFill>
            <a:srgbClr val="F4F6F8"/>
          </a:solidFill>
          <a:ln w="9525">
            <a:solidFill>
              <a:srgbClr val="D9DEE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58200" y="3895344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7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800" dirty="0"/>
          </a:p>
        </p:txBody>
      </p:sp>
      <p:sp>
        <p:nvSpPr>
          <p:cNvPr id="21" name="Text 19"/>
          <p:cNvSpPr txBox="1"/>
          <p:nvPr/>
        </p:nvSpPr>
        <p:spPr>
          <a:xfrm>
            <a:off x="8458200" y="470001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 órfãs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taxonomia de exemplo cobre imobilizado, uso e consumo e serviços. Matéria-prima, insumos e produto acabado variam demais entre empresas e entram pela mesma estrutura, quando cada uma adotar.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41908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Classificador Fiscal Inteligente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064240" y="6419088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F29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C26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RESUMO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Cadastro bem feito não é burocracia.</a:t>
            </a:r>
            <a:endParaRPr lang="en-US" sz="36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 a base do resultado.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3520440" cy="1691640"/>
          </a:xfrm>
          <a:prstGeom prst="roundRect">
            <a:avLst>
              <a:gd name="adj" fmla="val 3243"/>
            </a:avLst>
          </a:prstGeom>
          <a:solidFill>
            <a:srgbClr val="2A3844"/>
          </a:solidFill>
          <a:ln w="9525">
            <a:solidFill>
              <a:srgbClr val="3D4C5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391363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item atravessa todos os processos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553712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EBA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solicitação de compra até a contabilização, tudo herda o cadastro.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3400" y="3657600"/>
            <a:ext cx="3520440" cy="1691640"/>
          </a:xfrm>
          <a:prstGeom prst="roundRect">
            <a:avLst>
              <a:gd name="adj" fmla="val 3243"/>
            </a:avLst>
          </a:prstGeom>
          <a:solidFill>
            <a:srgbClr val="2A3844"/>
          </a:solidFill>
          <a:ln w="9525">
            <a:solidFill>
              <a:srgbClr val="3D4C5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17720" y="391363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erro aparece no resultado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617720" y="4553712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EBA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no cadastro. Aparece na margem, no balanço e na apuração.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38160" y="3657600"/>
            <a:ext cx="3520440" cy="1691640"/>
          </a:xfrm>
          <a:prstGeom prst="roundRect">
            <a:avLst>
              <a:gd name="adj" fmla="val 3243"/>
            </a:avLst>
          </a:prstGeom>
          <a:solidFill>
            <a:srgbClr val="2A3844"/>
          </a:solidFill>
          <a:ln w="9525">
            <a:solidFill>
              <a:srgbClr val="3D4C5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12480" y="391363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taxonomia tira a regra da memória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412480" y="4553712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EBA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Escrita uma vez, aplicada sempre, conferida antes do erro.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9436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Classificador Fiscal Inteligente  ·  Hugo Nogueira  · 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Cadastro de Itens: por que classificar bem decide o resultado</dc:title>
  <dc:subject>PptxGenJS Presentation</dc:subject>
  <dc:creator>Hugo Nogueira</dc:creator>
  <cp:lastModifiedBy>Hugo Nogueira</cp:lastModifiedBy>
  <cp:revision>1</cp:revision>
  <dcterms:created xsi:type="dcterms:W3CDTF">2026-09-22T02:49:42Z</dcterms:created>
  <dcterms:modified xsi:type="dcterms:W3CDTF">2026-09-22T02:49:42Z</dcterms:modified>
</cp:coreProperties>
</file>